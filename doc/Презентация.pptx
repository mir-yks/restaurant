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73" r:id="rId4"/>
    <p:sldId id="260" r:id="rId5"/>
    <p:sldId id="263" r:id="rId6"/>
    <p:sldId id="264" r:id="rId7"/>
    <p:sldId id="265" r:id="rId8"/>
    <p:sldId id="269" r:id="rId9"/>
    <p:sldId id="274" r:id="rId10"/>
    <p:sldId id="271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02C"/>
    <a:srgbClr val="123BA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>
        <p:scale>
          <a:sx n="70" d="100"/>
          <a:sy n="70" d="100"/>
        </p:scale>
        <p:origin x="-1123" y="-4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1E202C"/>
          </a:solidFill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Разработка автоматизированной информационной системы ресторана европейской кухни </a:t>
            </a:r>
            <a:r>
              <a:rPr lang="ru-RU" b="1" dirty="0"/>
              <a:t>на базе платформы .NET</a:t>
            </a:r>
            <a:r>
              <a:rPr lang="ru-RU" b="1" dirty="0" smtClean="0"/>
              <a:t>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66425014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Выполнил: </a:t>
                      </a:r>
                      <a:r>
                        <a:rPr lang="ru-RU" baseline="0" dirty="0" err="1" smtClean="0"/>
                        <a:t>Мудров</a:t>
                      </a:r>
                      <a:r>
                        <a:rPr lang="ru-RU" baseline="0" dirty="0" smtClean="0"/>
                        <a:t> Максим  Андреевич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Руководитель: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Карпушева</a:t>
                      </a:r>
                      <a:r>
                        <a:rPr lang="ru-RU" baseline="0" dirty="0" smtClean="0"/>
                        <a:t> Ирина Александровна</a:t>
                      </a:r>
                    </a:p>
                    <a:p>
                      <a:pPr algn="l"/>
                      <a:r>
                        <a:rPr lang="ru-RU" dirty="0" smtClean="0"/>
                        <a:t>                             преподаватель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1E202C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Актуальность темы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446662"/>
            <a:ext cx="11087100" cy="4013200"/>
          </a:xfrm>
        </p:spPr>
        <p:txBody>
          <a:bodyPr>
            <a:noAutofit/>
          </a:bodyPr>
          <a:lstStyle/>
          <a:p>
            <a:pPr marL="0" indent="54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В современной ресторанной индустрии, характеризующейся высокой конкуренцией и динамичным развитием, автоматизация бизнес-процессов является необходимым условием для обеспечения операционной эффективности, контроля качества и повышения уровня обслуживания. Рестораны европейской кухни, предлагающие сложное и сезонное меню, сталкиваются с особыми управленческими задачами: необходимостью точного учета разнообразных ингредиентов, контроля себестоимости блюд, управления заказами и персоналом, а также анализа клиентских предпочтений.</a:t>
            </a: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В настоящее время успешное функционирование ресторана невозможно без применения специализированного программного обеспечения, которое интегрирует ключевые операции в единую информационную систему 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1E202C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Постановка задачи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446662"/>
            <a:ext cx="11087100" cy="4013200"/>
          </a:xfrm>
        </p:spPr>
        <p:txBody>
          <a:bodyPr>
            <a:noAutofit/>
          </a:bodyPr>
          <a:lstStyle/>
          <a:p>
            <a:pPr indent="540000" algn="just">
              <a:lnSpc>
                <a:spcPct val="12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выпускной квалификационной работы заключается в разработке информационной системы ресторана европейской кухни. База данных ресторана должна обладать следующими особенностями:</a:t>
            </a:r>
          </a:p>
          <a:p>
            <a:pPr indent="540000" algn="just">
              <a:lnSpc>
                <a:spcPct val="12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форму авторизации;</a:t>
            </a:r>
          </a:p>
          <a:p>
            <a:pPr indent="540000" algn="just">
              <a:lnSpc>
                <a:spcPct val="12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формы для ввода и вывода информации;</a:t>
            </a:r>
          </a:p>
          <a:p>
            <a:pPr indent="540000" algn="just">
              <a:lnSpc>
                <a:spcPct val="12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возможность резервного копирования БД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импорта и экспорта данных;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40000" algn="just">
              <a:lnSpc>
                <a:spcPct val="12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иметь возможность оформления документов в форматы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 Excel/Word, PDF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indent="540000" algn="just">
              <a:lnSpc>
                <a:spcPct val="12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предусмотреть постраничный вывод информации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540000" algn="just">
              <a:lnSpc>
                <a:spcPct val="12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иметь условное форматирование данных в таблицах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540000" algn="just">
              <a:lnSpc>
                <a:spcPct val="120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редусмотреть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с изображением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540000" algn="just">
              <a:lnSpc>
                <a:spcPct val="120000"/>
              </a:lnSpc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С#. База данных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logotip-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335" y="4401010"/>
            <a:ext cx="1577691" cy="1754132"/>
          </a:xfrm>
          <a:prstGeom prst="rect">
            <a:avLst/>
          </a:prstGeom>
        </p:spPr>
      </p:pic>
      <p:pic>
        <p:nvPicPr>
          <p:cNvPr id="14" name="Рисунок 13" descr="Kotlin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67" y="4685446"/>
            <a:ext cx="1087557" cy="1087557"/>
          </a:xfrm>
          <a:prstGeom prst="rect">
            <a:avLst/>
          </a:prstGeom>
        </p:spPr>
      </p:pic>
      <p:pic>
        <p:nvPicPr>
          <p:cNvPr id="13" name="Рисунок 12" descr="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876" y="2207312"/>
            <a:ext cx="1239886" cy="1239886"/>
          </a:xfrm>
          <a:prstGeom prst="rect">
            <a:avLst/>
          </a:prstGeom>
        </p:spPr>
      </p:pic>
      <p:pic>
        <p:nvPicPr>
          <p:cNvPr id="12" name="Рисунок 11" descr="Sharpdevelop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524" y="2129486"/>
            <a:ext cx="1151054" cy="1316333"/>
          </a:xfrm>
          <a:prstGeom prst="rect">
            <a:avLst/>
          </a:prstGeom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  <a:solidFill>
            <a:srgbClr val="1E202C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Обоснование выбора среды разработки и </a:t>
            </a:r>
            <a:r>
              <a:rPr lang="ru-RU" sz="4000" dirty="0">
                <a:solidFill>
                  <a:schemeClr val="bg1"/>
                </a:solidFill>
              </a:rPr>
              <a:t>способа организации входных и выходных данных</a:t>
            </a:r>
          </a:p>
        </p:txBody>
      </p:sp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963" y="4705764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7177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1E202C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Структура БД – </a:t>
            </a:r>
            <a:r>
              <a:rPr lang="en-US" sz="4000" dirty="0" smtClean="0">
                <a:solidFill>
                  <a:schemeClr val="bg1"/>
                </a:solidFill>
              </a:rPr>
              <a:t>E</a:t>
            </a:r>
            <a:r>
              <a:rPr lang="en-US" sz="4000" dirty="0">
                <a:solidFill>
                  <a:schemeClr val="bg1"/>
                </a:solidFill>
              </a:rPr>
              <a:t>R</a:t>
            </a:r>
            <a:r>
              <a:rPr lang="ru-RU" sz="4000" dirty="0" smtClean="0">
                <a:solidFill>
                  <a:schemeClr val="bg1"/>
                </a:solidFill>
              </a:rPr>
              <a:t>-диаграмма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err-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1188" y="1466555"/>
            <a:ext cx="6373504" cy="508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11254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1E202C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515" y="1359848"/>
            <a:ext cx="2139491" cy="3102970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9310" y="1363829"/>
            <a:ext cx="4964068" cy="2061760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88358" y="3530457"/>
            <a:ext cx="4273432" cy="3078055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64782" y="1361199"/>
            <a:ext cx="3446271" cy="2501118"/>
          </a:xfrm>
          <a:prstGeom prst="rect">
            <a:avLst/>
          </a:prstGeom>
          <a:noFill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446004" y="3985147"/>
            <a:ext cx="4384199" cy="27022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58585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1E202C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663" y="1354020"/>
            <a:ext cx="4490871" cy="2421698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49421" y="1348735"/>
            <a:ext cx="3717854" cy="2929944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7671" y="4003201"/>
            <a:ext cx="2297682" cy="2531097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21122" y="4413766"/>
            <a:ext cx="4441185" cy="2170303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068037" y="1421831"/>
            <a:ext cx="2440247" cy="32593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28861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1E202C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1203110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378232" y="4846856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426316" y="2802455"/>
            <a:ext cx="47148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Блокировка некорректного ввода данных или некорректных действий пользователя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5" y="1604964"/>
            <a:ext cx="1952625" cy="2482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58005" y="5327319"/>
            <a:ext cx="23717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8563956" y="1241288"/>
            <a:ext cx="3628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Проверка на обязательность полей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0" y="4761415"/>
            <a:ext cx="56201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неудачной попытке авторизации </a:t>
            </a: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выдает сообщение о неудавшейся авторизации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92831" y="3482880"/>
            <a:ext cx="2476500" cy="1238250"/>
          </a:xfrm>
          <a:prstGeom prst="rect">
            <a:avLst/>
          </a:prstGeom>
          <a:noFill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03817" y="1624084"/>
            <a:ext cx="24288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8364" y="5397689"/>
            <a:ext cx="1890498" cy="1241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65530" y="5418161"/>
            <a:ext cx="2729552" cy="1219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625385" y="3952094"/>
            <a:ext cx="3390757" cy="2694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Прямоугольник 21"/>
          <p:cNvSpPr/>
          <p:nvPr/>
        </p:nvSpPr>
        <p:spPr>
          <a:xfrm>
            <a:off x="8563956" y="3479521"/>
            <a:ext cx="3304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Скрытие персональных данных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584777" y="1610439"/>
            <a:ext cx="3227570" cy="12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Прямоугольник 23"/>
          <p:cNvSpPr/>
          <p:nvPr/>
        </p:nvSpPr>
        <p:spPr>
          <a:xfrm>
            <a:off x="4628160" y="1203111"/>
            <a:ext cx="2487284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Резервное копирование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816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1E202C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Обоснование экономической эффективности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2527861" y="1331846"/>
            <a:ext cx="75138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Цена разработки программного продукта: </a:t>
            </a:r>
            <a:r>
              <a:rPr lang="ru-RU" sz="2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16205 </a:t>
            </a:r>
            <a:r>
              <a:rPr lang="ru-RU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рублей</a:t>
            </a:r>
            <a:endParaRPr lang="ru-RU" sz="24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535959" y="1766216"/>
            <a:ext cx="1144209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  <a:tabLst>
                <a:tab pos="114300" algn="l"/>
              </a:tabLs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рограмма разработана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учебного процесса</a:t>
            </a:r>
            <a:r>
              <a:rPr lang="ru-RU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конкретного заказчика и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будет реализована бесплатно.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535959" y="2699248"/>
            <a:ext cx="11442095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Было принято решение продвигать продукт путем выпуска пробной версии продукта и размещение ее на специализированном бесплатном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хостинге. Данный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вариант позволит пользователям ознакомится с программным продуктом, оценить функционал, а размещение на специализированном хостинге привлечет большое количество клиентов.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458624" y="4547631"/>
            <a:ext cx="112253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Планируется реализовать программный продукт для желающих по цене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3000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рублей. Таким образом срок окупаемости программного продукта, составит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месяца.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816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ходе выполнения выпускной квалификационной работы была создана автоматизированная информационная система ресторана европейской кухни на базе платформы 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отвечающая поставленным требованиям.</a:t>
            </a:r>
          </a:p>
          <a:p>
            <a:pPr indent="540385" algn="just"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Данная программа планируется использоваться в ресторане европейской кухни и полностью удовлетворяет требованиям заказчика.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 дальнейшем планируется усовершенствования программы. Добавление функций: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реализация работы с ингредиентами блюд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поставщиками и складами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работе со складами использовать КЛАДР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также реализовать графическую карту отображения столов.</a:t>
            </a:r>
          </a:p>
          <a:p>
            <a:pPr indent="540385" algn="just">
              <a:lnSpc>
                <a:spcPct val="150000"/>
              </a:lnSpc>
            </a:pPr>
            <a:endParaRPr lang="ru-RU" sz="2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endParaRPr lang="ru-RU" sz="2000" dirty="0" smtClean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1E202C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08346" y="2967119"/>
            <a:ext cx="10706100" cy="498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822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1E202C"/>
          </a:solidFill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ВЫПУСКНАЯ КВАЛИФИКАЦИОННАЯ РАБОТА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Разработка автоматизированной информационной системы ресторана европейской кухни </a:t>
            </a:r>
            <a:r>
              <a:rPr lang="ru-RU" b="1" dirty="0"/>
              <a:t>на базе платформы .NET</a:t>
            </a:r>
            <a:r>
              <a:rPr lang="ru-RU" b="1" dirty="0" smtClean="0"/>
              <a:t>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66425014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Выполнил: </a:t>
                      </a:r>
                      <a:r>
                        <a:rPr lang="ru-RU" baseline="0" dirty="0" err="1" smtClean="0"/>
                        <a:t>Мудров</a:t>
                      </a:r>
                      <a:r>
                        <a:rPr lang="ru-RU" baseline="0" dirty="0" smtClean="0"/>
                        <a:t> Максим  Андреевич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Руководитель: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Карпушева</a:t>
                      </a:r>
                      <a:r>
                        <a:rPr lang="ru-RU" baseline="0" dirty="0" smtClean="0"/>
                        <a:t> Ирина Александровна</a:t>
                      </a:r>
                    </a:p>
                    <a:p>
                      <a:pPr algn="l"/>
                      <a:r>
                        <a:rPr lang="ru-RU" dirty="0" smtClean="0"/>
                        <a:t>                             преподаватель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480</Words>
  <Application>Microsoft Office PowerPoint</Application>
  <PresentationFormat>Произвольный</PresentationFormat>
  <Paragraphs>59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ВЫПУСКНАЯ КВАЛИФИКАЦИОННАЯ РАБОТА</vt:lpstr>
      <vt:lpstr>Актуальность темы</vt:lpstr>
      <vt:lpstr>Постановка задачи</vt:lpstr>
      <vt:lpstr>Обоснование выбора среды разработки и способа организации входных и выходных данных</vt:lpstr>
      <vt:lpstr>Структура БД – ER-диаграмма</vt:lpstr>
      <vt:lpstr>Программные модули</vt:lpstr>
      <vt:lpstr>Программные модули</vt:lpstr>
      <vt:lpstr>Слайд 8</vt:lpstr>
      <vt:lpstr>Слайд 9</vt:lpstr>
      <vt:lpstr>Слайд 10</vt:lpstr>
      <vt:lpstr>ВЫПУСКНАЯ КВАЛИФИКАЦИОННАЯ РАБОТА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User</cp:lastModifiedBy>
  <cp:revision>44</cp:revision>
  <dcterms:created xsi:type="dcterms:W3CDTF">2022-06-15T10:15:27Z</dcterms:created>
  <dcterms:modified xsi:type="dcterms:W3CDTF">2026-06-16T19:24:14Z</dcterms:modified>
</cp:coreProperties>
</file>